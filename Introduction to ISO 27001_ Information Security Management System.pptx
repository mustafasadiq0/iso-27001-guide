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072" y="775097"/>
            <a:ext cx="68580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32846" y="1860947"/>
            <a:ext cx="5478280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77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Introduction to ISO 27001</a:t>
            </a:r>
            <a:endParaRPr lang="en-US" sz="3077" dirty="0"/>
          </a:p>
        </p:txBody>
      </p:sp>
      <p:sp>
        <p:nvSpPr>
          <p:cNvPr id="5" name="Text 1"/>
          <p:cNvSpPr/>
          <p:nvPr/>
        </p:nvSpPr>
        <p:spPr>
          <a:xfrm>
            <a:off x="1832846" y="2568178"/>
            <a:ext cx="547828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95" dirty="0">
                <a:solidFill>
                  <a:srgbClr val="DBEA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Information Security Management System</a:t>
            </a:r>
            <a:endParaRPr lang="en-US" sz="1595" dirty="0"/>
          </a:p>
        </p:txBody>
      </p:sp>
      <p:sp>
        <p:nvSpPr>
          <p:cNvPr id="6" name="Shape 2"/>
          <p:cNvSpPr/>
          <p:nvPr/>
        </p:nvSpPr>
        <p:spPr>
          <a:xfrm>
            <a:off x="3039359" y="3168253"/>
            <a:ext cx="3065255" cy="5429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3267959" y="3339703"/>
            <a:ext cx="260805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Safeguarding Your Information Assets</a:t>
            </a:r>
            <a:endParaRPr lang="en-US" sz="987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709" y="4182666"/>
            <a:ext cx="150019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181452" y="4168378"/>
            <a:ext cx="8771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DBEA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Confidentiality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7171" y="4182666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44346" y="4168378"/>
            <a:ext cx="5193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DBEA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Integrity</a:t>
            </a:r>
            <a:endParaRPr lang="en-US" sz="94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319" y="4182666"/>
            <a:ext cx="171450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549494" y="4168378"/>
            <a:ext cx="64874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DBEA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Availability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142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0063"/>
            <a:ext cx="257175" cy="2571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8675" y="457200"/>
            <a:ext cx="31948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ISO 27001?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457200" y="1143000"/>
            <a:ext cx="3943350" cy="12180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>
            <a:off x="457200" y="1143000"/>
            <a:ext cx="28575" cy="1218009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00175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42975" y="1371600"/>
            <a:ext cx="19197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International Standard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685800" y="1714500"/>
            <a:ext cx="34861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Leading international standard for Information Security Management Systems (ISMS)</a:t>
            </a:r>
            <a:endParaRPr lang="en-US" sz="942" dirty="0"/>
          </a:p>
        </p:txBody>
      </p:sp>
      <p:sp>
        <p:nvSpPr>
          <p:cNvPr id="10" name="Shape 5"/>
          <p:cNvSpPr/>
          <p:nvPr/>
        </p:nvSpPr>
        <p:spPr>
          <a:xfrm>
            <a:off x="457200" y="2589609"/>
            <a:ext cx="3943350" cy="12180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6"/>
          <p:cNvSpPr/>
          <p:nvPr/>
        </p:nvSpPr>
        <p:spPr>
          <a:xfrm>
            <a:off x="457200" y="2589609"/>
            <a:ext cx="28575" cy="1218009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7"/>
          <p:cNvSpPr/>
          <p:nvPr/>
        </p:nvSpPr>
        <p:spPr>
          <a:xfrm>
            <a:off x="771525" y="2818209"/>
            <a:ext cx="6876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Purpose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685800" y="3161109"/>
            <a:ext cx="34861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Helps organizations protect information systematically and cost-effectively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457200" y="4036219"/>
            <a:ext cx="3943350" cy="12180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457200" y="4036219"/>
            <a:ext cx="28575" cy="1218009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93394"/>
            <a:ext cx="128588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0113" y="4264819"/>
            <a:ext cx="5265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Origin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685800" y="4607719"/>
            <a:ext cx="34861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Published by ISO and IEC as part of the ISO/IEC 27000 series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4743450" y="1450181"/>
            <a:ext cx="3943350" cy="2725341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6372225" y="1793081"/>
            <a:ext cx="685800" cy="6858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86350" y="2707481"/>
            <a:ext cx="32575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ISO/IEC 27001</a:t>
            </a:r>
            <a:endParaRPr lang="en-US" sz="1499" dirty="0"/>
          </a:p>
        </p:txBody>
      </p:sp>
      <p:sp>
        <p:nvSpPr>
          <p:cNvPr id="22" name="Text 15"/>
          <p:cNvSpPr/>
          <p:nvPr/>
        </p:nvSpPr>
        <p:spPr>
          <a:xfrm>
            <a:off x="5086350" y="3136106"/>
            <a:ext cx="3257550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"Information security, cybersecurity and privacy protection — Information security management systems — Requirements"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743450" y="4404122"/>
            <a:ext cx="3943350" cy="542925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6696" y="4611291"/>
            <a:ext cx="160734" cy="1285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574581" y="4588073"/>
            <a:ext cx="24989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 organizations of any size or industry</a:t>
            </a:r>
            <a:endParaRPr lang="en-US" sz="8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8291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0063"/>
            <a:ext cx="289322" cy="25717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0822" y="457200"/>
            <a:ext cx="49082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is ISO 27001 Important?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457200" y="1143000"/>
            <a:ext cx="4000500" cy="17912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>
            <a:off x="685800" y="1371600"/>
            <a:ext cx="442913" cy="458986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485900"/>
            <a:ext cx="214313" cy="2143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43013" y="1486793"/>
            <a:ext cx="15096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Legal Compliance</a:t>
            </a:r>
            <a:endParaRPr lang="en-US" sz="1193" dirty="0"/>
          </a:p>
        </p:txBody>
      </p:sp>
      <p:sp>
        <p:nvSpPr>
          <p:cNvPr id="9" name="Text 4"/>
          <p:cNvSpPr/>
          <p:nvPr/>
        </p:nvSpPr>
        <p:spPr>
          <a:xfrm>
            <a:off x="685800" y="2002036"/>
            <a:ext cx="35433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Meet increasing legal requirements and regulations like GDPR and NIS 2 with a structured approach</a:t>
            </a:r>
            <a:endParaRPr lang="en-US" sz="94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62820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57250" y="2534245"/>
            <a:ext cx="6733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GDPR Ready</a:t>
            </a:r>
            <a:endParaRPr lang="en-US" sz="784" dirty="0"/>
          </a:p>
        </p:txBody>
      </p:sp>
      <p:sp>
        <p:nvSpPr>
          <p:cNvPr id="12" name="Shape 6"/>
          <p:cNvSpPr/>
          <p:nvPr/>
        </p:nvSpPr>
        <p:spPr>
          <a:xfrm>
            <a:off x="4686300" y="1143000"/>
            <a:ext cx="4000500" cy="17912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7"/>
          <p:cNvSpPr/>
          <p:nvPr/>
        </p:nvSpPr>
        <p:spPr>
          <a:xfrm>
            <a:off x="4914900" y="1371600"/>
            <a:ext cx="469702" cy="458986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485900"/>
            <a:ext cx="241102" cy="2143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98902" y="1486793"/>
            <a:ext cx="20188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Competitive Advantage</a:t>
            </a:r>
            <a:endParaRPr lang="en-US" sz="1193" dirty="0"/>
          </a:p>
        </p:txBody>
      </p:sp>
      <p:sp>
        <p:nvSpPr>
          <p:cNvPr id="16" name="Text 9"/>
          <p:cNvSpPr/>
          <p:nvPr/>
        </p:nvSpPr>
        <p:spPr>
          <a:xfrm>
            <a:off x="4914900" y="2002036"/>
            <a:ext cx="35433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 out from competitors by demonstrating commitment to information security</a:t>
            </a:r>
            <a:endParaRPr lang="en-US" sz="942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2562820"/>
            <a:ext cx="114300" cy="1143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086350" y="2534245"/>
            <a:ext cx="7773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5966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Certified Trust</a:t>
            </a:r>
            <a:endParaRPr lang="en-US" sz="784" dirty="0"/>
          </a:p>
        </p:txBody>
      </p:sp>
      <p:sp>
        <p:nvSpPr>
          <p:cNvPr id="19" name="Shape 11"/>
          <p:cNvSpPr/>
          <p:nvPr/>
        </p:nvSpPr>
        <p:spPr>
          <a:xfrm>
            <a:off x="457200" y="3162895"/>
            <a:ext cx="4000500" cy="17912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2"/>
          <p:cNvSpPr/>
          <p:nvPr/>
        </p:nvSpPr>
        <p:spPr>
          <a:xfrm>
            <a:off x="685800" y="3391495"/>
            <a:ext cx="469702" cy="458986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505795"/>
            <a:ext cx="241102" cy="21431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269802" y="3506688"/>
            <a:ext cx="1030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Lower Costs</a:t>
            </a:r>
            <a:endParaRPr lang="en-US" sz="1193" dirty="0"/>
          </a:p>
        </p:txBody>
      </p:sp>
      <p:sp>
        <p:nvSpPr>
          <p:cNvPr id="23" name="Text 14"/>
          <p:cNvSpPr/>
          <p:nvPr/>
        </p:nvSpPr>
        <p:spPr>
          <a:xfrm>
            <a:off x="685800" y="4021931"/>
            <a:ext cx="35433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Prevent security incidents before they happen, saving significant costs</a:t>
            </a:r>
            <a:endParaRPr lang="en-US" sz="942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582716"/>
            <a:ext cx="114300" cy="1143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57250" y="4554141"/>
            <a:ext cx="9363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C262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Prevention Focus</a:t>
            </a:r>
            <a:endParaRPr lang="en-US" sz="784" dirty="0"/>
          </a:p>
        </p:txBody>
      </p:sp>
      <p:sp>
        <p:nvSpPr>
          <p:cNvPr id="26" name="Shape 16"/>
          <p:cNvSpPr/>
          <p:nvPr/>
        </p:nvSpPr>
        <p:spPr>
          <a:xfrm>
            <a:off x="4686300" y="3162895"/>
            <a:ext cx="4000500" cy="17912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17"/>
          <p:cNvSpPr/>
          <p:nvPr/>
        </p:nvSpPr>
        <p:spPr>
          <a:xfrm>
            <a:off x="4914900" y="3391495"/>
            <a:ext cx="469702" cy="458986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505795"/>
            <a:ext cx="241102" cy="214313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498902" y="3506688"/>
            <a:ext cx="17114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Better Organization</a:t>
            </a:r>
            <a:endParaRPr lang="en-US" sz="1193" dirty="0"/>
          </a:p>
        </p:txBody>
      </p:sp>
      <p:sp>
        <p:nvSpPr>
          <p:cNvPr id="30" name="Text 19"/>
          <p:cNvSpPr/>
          <p:nvPr/>
        </p:nvSpPr>
        <p:spPr>
          <a:xfrm>
            <a:off x="4914900" y="4021931"/>
            <a:ext cx="35433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Define clear processes and procedures, reducing confusion and maintaining knowledge</a:t>
            </a:r>
            <a:endParaRPr lang="en-US" sz="942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4900" y="4582716"/>
            <a:ext cx="142875" cy="11430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114925" y="4554141"/>
            <a:ext cx="11498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C3AE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Structured Processes</a:t>
            </a:r>
            <a:endParaRPr lang="en-US" sz="784" dirty="0"/>
          </a:p>
        </p:txBody>
      </p:sp>
      <p:sp>
        <p:nvSpPr>
          <p:cNvPr id="33" name="Shape 21"/>
          <p:cNvSpPr/>
          <p:nvPr/>
        </p:nvSpPr>
        <p:spPr>
          <a:xfrm>
            <a:off x="457200" y="5182791"/>
            <a:ext cx="8229600" cy="542925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39863" y="5382816"/>
            <a:ext cx="107156" cy="142875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2132744" y="5356027"/>
            <a:ext cx="507136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Investment in ISO 27001 is far smaller than the cost savings you'll achieve</a:t>
            </a:r>
            <a:endParaRPr lang="en-US" sz="98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847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Three Principles of ISO 27001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CIA Triad - Foundation of Information Security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914400" y="1485900"/>
            <a:ext cx="2286000" cy="29985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1714500" y="1771650"/>
            <a:ext cx="685800" cy="6858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886" y="1985963"/>
            <a:ext cx="225028" cy="2571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0150" y="2628900"/>
            <a:ext cx="1714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Confidentiality</a:t>
            </a:r>
            <a:endParaRPr lang="en-US" sz="1499" dirty="0"/>
          </a:p>
        </p:txBody>
      </p:sp>
      <p:sp>
        <p:nvSpPr>
          <p:cNvPr id="9" name="Text 5"/>
          <p:cNvSpPr/>
          <p:nvPr/>
        </p:nvSpPr>
        <p:spPr>
          <a:xfrm>
            <a:off x="1200150" y="3000375"/>
            <a:ext cx="1714500" cy="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Only authorized persons have the right to access information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1200150" y="3798689"/>
            <a:ext cx="1714500" cy="400050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52" y="3941564"/>
            <a:ext cx="142875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18577" y="3912989"/>
            <a:ext cx="12776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Authorized Access Only</a:t>
            </a:r>
            <a:endParaRPr lang="en-US" sz="784" dirty="0"/>
          </a:p>
        </p:txBody>
      </p:sp>
      <p:sp>
        <p:nvSpPr>
          <p:cNvPr id="13" name="Shape 8"/>
          <p:cNvSpPr/>
          <p:nvPr/>
        </p:nvSpPr>
        <p:spPr>
          <a:xfrm>
            <a:off x="3429000" y="1504652"/>
            <a:ext cx="2286000" cy="29610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9"/>
          <p:cNvSpPr/>
          <p:nvPr/>
        </p:nvSpPr>
        <p:spPr>
          <a:xfrm>
            <a:off x="4229100" y="1790402"/>
            <a:ext cx="685800" cy="6858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413" y="2004715"/>
            <a:ext cx="257175" cy="2571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714750" y="2647652"/>
            <a:ext cx="1714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05966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Integrity</a:t>
            </a:r>
            <a:endParaRPr lang="en-US" sz="1499" dirty="0"/>
          </a:p>
        </p:txBody>
      </p:sp>
      <p:sp>
        <p:nvSpPr>
          <p:cNvPr id="17" name="Text 11"/>
          <p:cNvSpPr/>
          <p:nvPr/>
        </p:nvSpPr>
        <p:spPr>
          <a:xfrm>
            <a:off x="3714750" y="3019127"/>
            <a:ext cx="17145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Only authorized persons can change the information</a:t>
            </a:r>
            <a:endParaRPr lang="en-US" sz="942" dirty="0"/>
          </a:p>
        </p:txBody>
      </p:sp>
      <p:sp>
        <p:nvSpPr>
          <p:cNvPr id="18" name="Shape 12"/>
          <p:cNvSpPr/>
          <p:nvPr/>
        </p:nvSpPr>
        <p:spPr>
          <a:xfrm>
            <a:off x="3714750" y="3608487"/>
            <a:ext cx="1714500" cy="57150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9050" y="3837087"/>
            <a:ext cx="114300" cy="1143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000500" y="3722787"/>
            <a:ext cx="1314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5966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Controlled Modifications</a:t>
            </a:r>
            <a:endParaRPr lang="en-US" sz="784" dirty="0"/>
          </a:p>
        </p:txBody>
      </p:sp>
      <p:sp>
        <p:nvSpPr>
          <p:cNvPr id="21" name="Shape 14"/>
          <p:cNvSpPr/>
          <p:nvPr/>
        </p:nvSpPr>
        <p:spPr>
          <a:xfrm>
            <a:off x="5943600" y="1485900"/>
            <a:ext cx="2286000" cy="29985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5"/>
          <p:cNvSpPr/>
          <p:nvPr/>
        </p:nvSpPr>
        <p:spPr>
          <a:xfrm>
            <a:off x="6743700" y="1771650"/>
            <a:ext cx="685800" cy="6858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013" y="1985963"/>
            <a:ext cx="257175" cy="2571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29350" y="2628900"/>
            <a:ext cx="1714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7C3AE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Availability</a:t>
            </a:r>
            <a:endParaRPr lang="en-US" sz="1499" dirty="0"/>
          </a:p>
        </p:txBody>
      </p:sp>
      <p:sp>
        <p:nvSpPr>
          <p:cNvPr id="25" name="Text 17"/>
          <p:cNvSpPr/>
          <p:nvPr/>
        </p:nvSpPr>
        <p:spPr>
          <a:xfrm>
            <a:off x="6229350" y="3000375"/>
            <a:ext cx="1714500" cy="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Information must be accessible to authorized persons whenever needed</a:t>
            </a:r>
            <a:endParaRPr lang="en-US" sz="942" dirty="0"/>
          </a:p>
        </p:txBody>
      </p:sp>
      <p:sp>
        <p:nvSpPr>
          <p:cNvPr id="26" name="Shape 18"/>
          <p:cNvSpPr/>
          <p:nvPr/>
        </p:nvSpPr>
        <p:spPr>
          <a:xfrm>
            <a:off x="6229350" y="3798689"/>
            <a:ext cx="1714500" cy="40005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27" name="Text 19"/>
          <p:cNvSpPr/>
          <p:nvPr/>
        </p:nvSpPr>
        <p:spPr>
          <a:xfrm>
            <a:off x="6630070" y="3912989"/>
            <a:ext cx="9701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C3AE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Always Accessible</a:t>
            </a:r>
            <a:endParaRPr lang="en-US" sz="784" dirty="0"/>
          </a:p>
        </p:txBody>
      </p:sp>
      <p:sp>
        <p:nvSpPr>
          <p:cNvPr id="28" name="Shape 20"/>
          <p:cNvSpPr/>
          <p:nvPr/>
        </p:nvSpPr>
        <p:spPr>
          <a:xfrm>
            <a:off x="457200" y="4827389"/>
            <a:ext cx="8229600" cy="100012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290" y="5084564"/>
            <a:ext cx="214313" cy="17145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774328" y="5052417"/>
            <a:ext cx="189538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CIA Triad Balance</a:t>
            </a:r>
            <a:endParaRPr lang="en-US" sz="1193" dirty="0"/>
          </a:p>
        </p:txBody>
      </p:sp>
      <p:sp>
        <p:nvSpPr>
          <p:cNvPr id="31" name="Text 22"/>
          <p:cNvSpPr/>
          <p:nvPr/>
        </p:nvSpPr>
        <p:spPr>
          <a:xfrm>
            <a:off x="685800" y="5398889"/>
            <a:ext cx="77724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Effective information security requires balancing all three principles to protect your organization's valuable data assets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276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Does ISO 27001 Work?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Risk Management Approach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457200" y="1485900"/>
            <a:ext cx="8229600" cy="10287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645" y="1735931"/>
            <a:ext cx="214313" cy="2143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33682" y="1696641"/>
            <a:ext cx="1776673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Philosophy</a:t>
            </a:r>
            <a:endParaRPr lang="en-US" sz="1499" dirty="0"/>
          </a:p>
        </p:txBody>
      </p:sp>
      <p:sp>
        <p:nvSpPr>
          <p:cNvPr id="8" name="Text 4"/>
          <p:cNvSpPr/>
          <p:nvPr/>
        </p:nvSpPr>
        <p:spPr>
          <a:xfrm>
            <a:off x="685800" y="2085975"/>
            <a:ext cx="77724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Protect information by systematically identifying and managing risks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85775" y="2857500"/>
            <a:ext cx="2286000" cy="26271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1343025" y="3086100"/>
            <a:ext cx="571500" cy="5715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619" y="3264694"/>
            <a:ext cx="214313" cy="2143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4375" y="3829050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DC262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Risk Assessment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714375" y="4171950"/>
            <a:ext cx="1828800" cy="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potential incidents that could happen to your information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714375" y="4913114"/>
            <a:ext cx="1828800" cy="3429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5" name="Text 10"/>
          <p:cNvSpPr/>
          <p:nvPr/>
        </p:nvSpPr>
        <p:spPr>
          <a:xfrm>
            <a:off x="714375" y="4913114"/>
            <a:ext cx="1828800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C262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Find the Risks</a:t>
            </a:r>
            <a:endParaRPr lang="en-US" sz="834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75" y="4058543"/>
            <a:ext cx="200025" cy="228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429000" y="2857500"/>
            <a:ext cx="2286000" cy="26271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2"/>
          <p:cNvSpPr/>
          <p:nvPr/>
        </p:nvSpPr>
        <p:spPr>
          <a:xfrm>
            <a:off x="4286250" y="3086100"/>
            <a:ext cx="571500" cy="5715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844" y="3264694"/>
            <a:ext cx="214313" cy="21431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657600" y="3829050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05966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Risk Treatment</a:t>
            </a:r>
            <a:endParaRPr lang="en-US" sz="1193" dirty="0"/>
          </a:p>
        </p:txBody>
      </p:sp>
      <p:sp>
        <p:nvSpPr>
          <p:cNvPr id="21" name="Text 14"/>
          <p:cNvSpPr/>
          <p:nvPr/>
        </p:nvSpPr>
        <p:spPr>
          <a:xfrm>
            <a:off x="3657600" y="4171950"/>
            <a:ext cx="1828800" cy="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Define security controls to prevent incidents from happening</a:t>
            </a:r>
            <a:endParaRPr lang="en-US" sz="942" dirty="0"/>
          </a:p>
        </p:txBody>
      </p:sp>
      <p:sp>
        <p:nvSpPr>
          <p:cNvPr id="22" name="Shape 15"/>
          <p:cNvSpPr/>
          <p:nvPr/>
        </p:nvSpPr>
        <p:spPr>
          <a:xfrm>
            <a:off x="3657600" y="4913114"/>
            <a:ext cx="1828800" cy="3429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23" name="Text 16"/>
          <p:cNvSpPr/>
          <p:nvPr/>
        </p:nvSpPr>
        <p:spPr>
          <a:xfrm>
            <a:off x="3657600" y="4913114"/>
            <a:ext cx="1828800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5966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Controls</a:t>
            </a:r>
            <a:endParaRPr lang="en-US" sz="834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4058543"/>
            <a:ext cx="200025" cy="2286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372225" y="2857500"/>
            <a:ext cx="2286000" cy="26271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18"/>
          <p:cNvSpPr/>
          <p:nvPr/>
        </p:nvSpPr>
        <p:spPr>
          <a:xfrm>
            <a:off x="7229475" y="3086100"/>
            <a:ext cx="571500" cy="5715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4858" y="3264694"/>
            <a:ext cx="160734" cy="21431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600825" y="3829050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7C3AE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Documentation</a:t>
            </a:r>
            <a:endParaRPr lang="en-US" sz="1193" dirty="0"/>
          </a:p>
        </p:txBody>
      </p:sp>
      <p:sp>
        <p:nvSpPr>
          <p:cNvPr id="29" name="Text 20"/>
          <p:cNvSpPr/>
          <p:nvPr/>
        </p:nvSpPr>
        <p:spPr>
          <a:xfrm>
            <a:off x="6600825" y="4171950"/>
            <a:ext cx="1828800" cy="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Statement of Applicability listing all implemented controls</a:t>
            </a:r>
            <a:endParaRPr lang="en-US" sz="942" dirty="0"/>
          </a:p>
        </p:txBody>
      </p:sp>
      <p:sp>
        <p:nvSpPr>
          <p:cNvPr id="30" name="Shape 21"/>
          <p:cNvSpPr/>
          <p:nvPr/>
        </p:nvSpPr>
        <p:spPr>
          <a:xfrm>
            <a:off x="6600825" y="4913114"/>
            <a:ext cx="1828800" cy="34290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1" name="Text 22"/>
          <p:cNvSpPr/>
          <p:nvPr/>
        </p:nvSpPr>
        <p:spPr>
          <a:xfrm>
            <a:off x="6600825" y="4913114"/>
            <a:ext cx="1828800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C3AE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Document Everything</a:t>
            </a:r>
            <a:endParaRPr lang="en-US" sz="834" dirty="0"/>
          </a:p>
        </p:txBody>
      </p:sp>
      <p:sp>
        <p:nvSpPr>
          <p:cNvPr id="32" name="Shape 23"/>
          <p:cNvSpPr/>
          <p:nvPr/>
        </p:nvSpPr>
        <p:spPr>
          <a:xfrm>
            <a:off x="457200" y="5827514"/>
            <a:ext cx="8229600" cy="54292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9914" y="6027539"/>
            <a:ext cx="142875" cy="14287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948514" y="6000750"/>
            <a:ext cx="54755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Systematic approach to treat risks through security controls and safeguards</a:t>
            </a:r>
            <a:endParaRPr lang="en-US" sz="98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149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ISO 27001 Controls (Annex A)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3189377" y="714375"/>
            <a:ext cx="2765217" cy="3714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3275102" y="800100"/>
            <a:ext cx="259376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93 Security Controls in 2022 Revision</a:t>
            </a:r>
            <a:endParaRPr lang="en-US" sz="987" dirty="0"/>
          </a:p>
        </p:txBody>
      </p:sp>
      <p:sp>
        <p:nvSpPr>
          <p:cNvPr id="6" name="Shape 3"/>
          <p:cNvSpPr/>
          <p:nvPr/>
        </p:nvSpPr>
        <p:spPr>
          <a:xfrm>
            <a:off x="342900" y="1314450"/>
            <a:ext cx="4143375" cy="1593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342900" y="1314450"/>
            <a:ext cx="414337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5"/>
          <p:cNvSpPr/>
          <p:nvPr/>
        </p:nvSpPr>
        <p:spPr>
          <a:xfrm>
            <a:off x="514350" y="1485900"/>
            <a:ext cx="300038" cy="364331"/>
          </a:xfrm>
          <a:prstGeom prst="roundRect">
            <a:avLst/>
          </a:prstGeom>
          <a:solidFill>
            <a:srgbClr val="DBEAF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571625"/>
            <a:ext cx="128588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0113" y="1496616"/>
            <a:ext cx="17026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Organizational Controls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900113" y="1696641"/>
            <a:ext cx="17026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Section A.5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514350" y="1964531"/>
            <a:ext cx="3800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Rules and expected behavior from users, equipment, software, and systems</a:t>
            </a:r>
            <a:endParaRPr lang="en-US" sz="834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414588"/>
            <a:ext cx="100013" cy="1000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1513" y="2393156"/>
            <a:ext cx="98304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Access Control Policy</a:t>
            </a:r>
            <a:endParaRPr lang="en-US" sz="727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586038"/>
            <a:ext cx="100013" cy="1000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1513" y="2564606"/>
            <a:ext cx="568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BYOD Policy</a:t>
            </a:r>
            <a:endParaRPr lang="en-US" sz="727" dirty="0"/>
          </a:p>
        </p:txBody>
      </p:sp>
      <p:sp>
        <p:nvSpPr>
          <p:cNvPr id="17" name="Shape 11"/>
          <p:cNvSpPr/>
          <p:nvPr/>
        </p:nvSpPr>
        <p:spPr>
          <a:xfrm>
            <a:off x="4657725" y="1314450"/>
            <a:ext cx="4143375" cy="15644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2"/>
          <p:cNvSpPr/>
          <p:nvPr/>
        </p:nvSpPr>
        <p:spPr>
          <a:xfrm>
            <a:off x="4657725" y="1314450"/>
            <a:ext cx="4143375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3"/>
          <p:cNvSpPr/>
          <p:nvPr/>
        </p:nvSpPr>
        <p:spPr>
          <a:xfrm>
            <a:off x="4829175" y="1528763"/>
            <a:ext cx="385763" cy="364331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1614488"/>
            <a:ext cx="214313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00663" y="1539478"/>
            <a:ext cx="111858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5966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People Controls</a:t>
            </a:r>
            <a:endParaRPr lang="en-US" sz="987" dirty="0"/>
          </a:p>
        </p:txBody>
      </p:sp>
      <p:sp>
        <p:nvSpPr>
          <p:cNvPr id="22" name="Text 15"/>
          <p:cNvSpPr/>
          <p:nvPr/>
        </p:nvSpPr>
        <p:spPr>
          <a:xfrm>
            <a:off x="5300663" y="1739503"/>
            <a:ext cx="111858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Section A.6</a:t>
            </a:r>
            <a:endParaRPr lang="en-US" sz="727" dirty="0"/>
          </a:p>
        </p:txBody>
      </p:sp>
      <p:sp>
        <p:nvSpPr>
          <p:cNvPr id="23" name="Text 16"/>
          <p:cNvSpPr/>
          <p:nvPr/>
        </p:nvSpPr>
        <p:spPr>
          <a:xfrm>
            <a:off x="4829175" y="2050256"/>
            <a:ext cx="38004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Knowledge, education, skills, and experience for secure activities</a:t>
            </a:r>
            <a:endParaRPr lang="en-US" sz="834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9175" y="2371725"/>
            <a:ext cx="100013" cy="10001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986338" y="2350294"/>
            <a:ext cx="13184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5966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 Awareness Training</a:t>
            </a:r>
            <a:endParaRPr lang="en-US" sz="727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9175" y="2543175"/>
            <a:ext cx="100013" cy="10001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986338" y="2521744"/>
            <a:ext cx="115896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5966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Internal Auditor Training</a:t>
            </a:r>
            <a:endParaRPr lang="en-US" sz="727" dirty="0"/>
          </a:p>
        </p:txBody>
      </p:sp>
      <p:sp>
        <p:nvSpPr>
          <p:cNvPr id="28" name="Shape 19"/>
          <p:cNvSpPr/>
          <p:nvPr/>
        </p:nvSpPr>
        <p:spPr>
          <a:xfrm>
            <a:off x="342900" y="3050381"/>
            <a:ext cx="4143375" cy="15930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0"/>
          <p:cNvSpPr/>
          <p:nvPr/>
        </p:nvSpPr>
        <p:spPr>
          <a:xfrm>
            <a:off x="342900" y="3050381"/>
            <a:ext cx="4143375" cy="285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Shape 21"/>
          <p:cNvSpPr/>
          <p:nvPr/>
        </p:nvSpPr>
        <p:spPr>
          <a:xfrm>
            <a:off x="514350" y="3221831"/>
            <a:ext cx="364331" cy="364331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3307556"/>
            <a:ext cx="192881" cy="17145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64406" y="3232547"/>
            <a:ext cx="12202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DC262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Physical Controls</a:t>
            </a:r>
            <a:endParaRPr lang="en-US" sz="987" dirty="0"/>
          </a:p>
        </p:txBody>
      </p:sp>
      <p:sp>
        <p:nvSpPr>
          <p:cNvPr id="33" name="Text 23"/>
          <p:cNvSpPr/>
          <p:nvPr/>
        </p:nvSpPr>
        <p:spPr>
          <a:xfrm>
            <a:off x="964406" y="3432572"/>
            <a:ext cx="122029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Section A.7</a:t>
            </a:r>
            <a:endParaRPr lang="en-US" sz="727" dirty="0"/>
          </a:p>
        </p:txBody>
      </p:sp>
      <p:sp>
        <p:nvSpPr>
          <p:cNvPr id="34" name="Text 24"/>
          <p:cNvSpPr/>
          <p:nvPr/>
        </p:nvSpPr>
        <p:spPr>
          <a:xfrm>
            <a:off x="514350" y="3700463"/>
            <a:ext cx="3800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Equipment and devices with physical interaction with people and objects</a:t>
            </a:r>
            <a:endParaRPr lang="en-US" sz="834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4150519"/>
            <a:ext cx="100013" cy="100013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71513" y="4129088"/>
            <a:ext cx="6786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C262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CCTV Cameras</a:t>
            </a:r>
            <a:endParaRPr lang="en-US" sz="727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350" y="4321969"/>
            <a:ext cx="100013" cy="100013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71513" y="4300538"/>
            <a:ext cx="69439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C262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Alarm Systems</a:t>
            </a:r>
            <a:endParaRPr lang="en-US" sz="727" dirty="0"/>
          </a:p>
        </p:txBody>
      </p:sp>
      <p:sp>
        <p:nvSpPr>
          <p:cNvPr id="39" name="Shape 27"/>
          <p:cNvSpPr/>
          <p:nvPr/>
        </p:nvSpPr>
        <p:spPr>
          <a:xfrm>
            <a:off x="4657725" y="3050381"/>
            <a:ext cx="4143375" cy="15644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28"/>
          <p:cNvSpPr/>
          <p:nvPr/>
        </p:nvSpPr>
        <p:spPr>
          <a:xfrm>
            <a:off x="4657725" y="3050381"/>
            <a:ext cx="4143375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1" name="Shape 29"/>
          <p:cNvSpPr/>
          <p:nvPr/>
        </p:nvSpPr>
        <p:spPr>
          <a:xfrm>
            <a:off x="4829175" y="3264694"/>
            <a:ext cx="385763" cy="364331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4900" y="3350419"/>
            <a:ext cx="214313" cy="17145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300663" y="3275409"/>
            <a:ext cx="16136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7C3AE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Technological Controls</a:t>
            </a:r>
            <a:endParaRPr lang="en-US" sz="987" dirty="0"/>
          </a:p>
        </p:txBody>
      </p:sp>
      <p:sp>
        <p:nvSpPr>
          <p:cNvPr id="44" name="Text 31"/>
          <p:cNvSpPr/>
          <p:nvPr/>
        </p:nvSpPr>
        <p:spPr>
          <a:xfrm>
            <a:off x="5300663" y="3475434"/>
            <a:ext cx="16136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Section A.8</a:t>
            </a:r>
            <a:endParaRPr lang="en-US" sz="727" dirty="0"/>
          </a:p>
        </p:txBody>
      </p:sp>
      <p:sp>
        <p:nvSpPr>
          <p:cNvPr id="45" name="Text 32"/>
          <p:cNvSpPr/>
          <p:nvPr/>
        </p:nvSpPr>
        <p:spPr>
          <a:xfrm>
            <a:off x="4829175" y="3786188"/>
            <a:ext cx="38004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Software, hardware, and firmware components in information systems</a:t>
            </a:r>
            <a:endParaRPr lang="en-US" sz="834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29175" y="4107656"/>
            <a:ext cx="100013" cy="100013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4986338" y="4086225"/>
            <a:ext cx="7596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7C3AE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Backup Systems</a:t>
            </a:r>
            <a:endParaRPr lang="en-US" sz="727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29175" y="4279106"/>
            <a:ext cx="100013" cy="100013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4986338" y="4257675"/>
            <a:ext cx="85761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7C3AE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Antivirus Software</a:t>
            </a:r>
            <a:endParaRPr lang="en-US" sz="727" dirty="0"/>
          </a:p>
        </p:txBody>
      </p:sp>
      <p:sp>
        <p:nvSpPr>
          <p:cNvPr id="50" name="Shape 35"/>
          <p:cNvSpPr/>
          <p:nvPr/>
        </p:nvSpPr>
        <p:spPr>
          <a:xfrm>
            <a:off x="342900" y="4786313"/>
            <a:ext cx="8458200" cy="42862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40282" y="4936331"/>
            <a:ext cx="128588" cy="128588"/>
          </a:xfrm>
          <a:prstGeom prst="rect">
            <a:avLst/>
          </a:prstGeom>
        </p:spPr>
      </p:pic>
      <p:sp>
        <p:nvSpPr>
          <p:cNvPr id="52" name="Text 36"/>
          <p:cNvSpPr/>
          <p:nvPr/>
        </p:nvSpPr>
        <p:spPr>
          <a:xfrm>
            <a:off x="2154594" y="4913114"/>
            <a:ext cx="504912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Controls reduce risks to acceptable levels through systematic implementation</a:t>
            </a:r>
            <a:endParaRPr lang="en-US" sz="8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6311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 of ISO 27001 Standard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342900" y="742950"/>
            <a:ext cx="84582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Two-Part Framework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342900" y="1171575"/>
            <a:ext cx="4114800" cy="45166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342900" y="1171575"/>
            <a:ext cx="28575" cy="45166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00175"/>
            <a:ext cx="416123" cy="458986"/>
          </a:xfrm>
          <a:prstGeom prst="roundRect">
            <a:avLst/>
          </a:prstGeom>
          <a:solidFill>
            <a:srgbClr val="DBEA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14475"/>
            <a:ext cx="187523" cy="2143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1923" y="1501080"/>
            <a:ext cx="231800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Part 1: Main Standard</a:t>
            </a:r>
            <a:endParaRPr lang="en-US" sz="1499" dirty="0"/>
          </a:p>
        </p:txBody>
      </p:sp>
      <p:sp>
        <p:nvSpPr>
          <p:cNvPr id="10" name="Shape 6"/>
          <p:cNvSpPr/>
          <p:nvPr/>
        </p:nvSpPr>
        <p:spPr>
          <a:xfrm>
            <a:off x="571500" y="2030611"/>
            <a:ext cx="3657600" cy="11430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2144911"/>
            <a:ext cx="3429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Clauses 0-3: Introduction</a:t>
            </a:r>
            <a:endParaRPr lang="en-US" sz="885" dirty="0"/>
          </a:p>
        </p:txBody>
      </p:sp>
      <p:sp>
        <p:nvSpPr>
          <p:cNvPr id="12" name="Text 8"/>
          <p:cNvSpPr/>
          <p:nvPr/>
        </p:nvSpPr>
        <p:spPr>
          <a:xfrm>
            <a:off x="685800" y="240208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Introduction</a:t>
            </a:r>
            <a:endParaRPr lang="en-US" sz="727" dirty="0"/>
          </a:p>
        </p:txBody>
      </p:sp>
      <p:sp>
        <p:nvSpPr>
          <p:cNvPr id="13" name="Text 9"/>
          <p:cNvSpPr/>
          <p:nvPr/>
        </p:nvSpPr>
        <p:spPr>
          <a:xfrm>
            <a:off x="685800" y="257353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Scope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685800" y="274498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Normative references</a:t>
            </a:r>
            <a:endParaRPr lang="en-US" sz="727" dirty="0"/>
          </a:p>
        </p:txBody>
      </p:sp>
      <p:sp>
        <p:nvSpPr>
          <p:cNvPr id="15" name="Text 11"/>
          <p:cNvSpPr/>
          <p:nvPr/>
        </p:nvSpPr>
        <p:spPr>
          <a:xfrm>
            <a:off x="685800" y="291643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Terms and definitions</a:t>
            </a:r>
            <a:endParaRPr lang="en-US" sz="727" dirty="0"/>
          </a:p>
        </p:txBody>
      </p:sp>
      <p:sp>
        <p:nvSpPr>
          <p:cNvPr id="16" name="Shape 12"/>
          <p:cNvSpPr/>
          <p:nvPr/>
        </p:nvSpPr>
        <p:spPr>
          <a:xfrm>
            <a:off x="571500" y="3287911"/>
            <a:ext cx="3657600" cy="165735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7" name="Text 13"/>
          <p:cNvSpPr/>
          <p:nvPr/>
        </p:nvSpPr>
        <p:spPr>
          <a:xfrm>
            <a:off x="685800" y="3402211"/>
            <a:ext cx="3429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Clauses 4-10: Mandatory Requirements</a:t>
            </a:r>
            <a:endParaRPr lang="en-US" sz="885" dirty="0"/>
          </a:p>
        </p:txBody>
      </p:sp>
      <p:sp>
        <p:nvSpPr>
          <p:cNvPr id="18" name="Text 14"/>
          <p:cNvSpPr/>
          <p:nvPr/>
        </p:nvSpPr>
        <p:spPr>
          <a:xfrm>
            <a:off x="685800" y="365938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Context of the organization</a:t>
            </a:r>
            <a:endParaRPr lang="en-US" sz="727" dirty="0"/>
          </a:p>
        </p:txBody>
      </p:sp>
      <p:sp>
        <p:nvSpPr>
          <p:cNvPr id="19" name="Text 15"/>
          <p:cNvSpPr/>
          <p:nvPr/>
        </p:nvSpPr>
        <p:spPr>
          <a:xfrm>
            <a:off x="685800" y="383083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Leadership</a:t>
            </a:r>
            <a:endParaRPr lang="en-US" sz="727" dirty="0"/>
          </a:p>
        </p:txBody>
      </p:sp>
      <p:sp>
        <p:nvSpPr>
          <p:cNvPr id="20" name="Text 16"/>
          <p:cNvSpPr/>
          <p:nvPr/>
        </p:nvSpPr>
        <p:spPr>
          <a:xfrm>
            <a:off x="685800" y="400228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Planning</a:t>
            </a:r>
            <a:endParaRPr lang="en-US" sz="727" dirty="0"/>
          </a:p>
        </p:txBody>
      </p:sp>
      <p:sp>
        <p:nvSpPr>
          <p:cNvPr id="21" name="Text 17"/>
          <p:cNvSpPr/>
          <p:nvPr/>
        </p:nvSpPr>
        <p:spPr>
          <a:xfrm>
            <a:off x="685800" y="417373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Support</a:t>
            </a:r>
            <a:endParaRPr lang="en-US" sz="727" dirty="0"/>
          </a:p>
        </p:txBody>
      </p:sp>
      <p:sp>
        <p:nvSpPr>
          <p:cNvPr id="22" name="Text 18"/>
          <p:cNvSpPr/>
          <p:nvPr/>
        </p:nvSpPr>
        <p:spPr>
          <a:xfrm>
            <a:off x="685800" y="434518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Operation</a:t>
            </a:r>
            <a:endParaRPr lang="en-US" sz="727" dirty="0"/>
          </a:p>
        </p:txBody>
      </p:sp>
      <p:sp>
        <p:nvSpPr>
          <p:cNvPr id="23" name="Text 19"/>
          <p:cNvSpPr/>
          <p:nvPr/>
        </p:nvSpPr>
        <p:spPr>
          <a:xfrm>
            <a:off x="685800" y="451663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Performance evaluation</a:t>
            </a:r>
            <a:endParaRPr lang="en-US" sz="727" dirty="0"/>
          </a:p>
        </p:txBody>
      </p:sp>
      <p:sp>
        <p:nvSpPr>
          <p:cNvPr id="24" name="Text 20"/>
          <p:cNvSpPr/>
          <p:nvPr/>
        </p:nvSpPr>
        <p:spPr>
          <a:xfrm>
            <a:off x="685800" y="468808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Improvement</a:t>
            </a:r>
            <a:endParaRPr lang="en-US" sz="727" dirty="0"/>
          </a:p>
        </p:txBody>
      </p:sp>
      <p:sp>
        <p:nvSpPr>
          <p:cNvPr id="25" name="Shape 21"/>
          <p:cNvSpPr/>
          <p:nvPr/>
        </p:nvSpPr>
        <p:spPr>
          <a:xfrm>
            <a:off x="571500" y="5116711"/>
            <a:ext cx="3657600" cy="3429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2"/>
          <p:cNvSpPr/>
          <p:nvPr/>
        </p:nvSpPr>
        <p:spPr>
          <a:xfrm>
            <a:off x="571500" y="5116711"/>
            <a:ext cx="3657600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MANDATORY for Compliance</a:t>
            </a:r>
            <a:endParaRPr lang="en-US" sz="834" dirty="0"/>
          </a:p>
        </p:txBody>
      </p:sp>
      <p:sp>
        <p:nvSpPr>
          <p:cNvPr id="27" name="Shape 23"/>
          <p:cNvSpPr/>
          <p:nvPr/>
        </p:nvSpPr>
        <p:spPr>
          <a:xfrm>
            <a:off x="4686300" y="1171575"/>
            <a:ext cx="4114800" cy="45166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4"/>
          <p:cNvSpPr/>
          <p:nvPr/>
        </p:nvSpPr>
        <p:spPr>
          <a:xfrm>
            <a:off x="4686300" y="1171575"/>
            <a:ext cx="28575" cy="45166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Shape 25"/>
          <p:cNvSpPr/>
          <p:nvPr/>
        </p:nvSpPr>
        <p:spPr>
          <a:xfrm>
            <a:off x="4914900" y="1400175"/>
            <a:ext cx="442913" cy="458986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14475"/>
            <a:ext cx="214313" cy="21431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472113" y="1501080"/>
            <a:ext cx="16287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05966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Part 2: Annex A</a:t>
            </a:r>
            <a:endParaRPr lang="en-US" sz="1499" dirty="0"/>
          </a:p>
        </p:txBody>
      </p:sp>
      <p:sp>
        <p:nvSpPr>
          <p:cNvPr id="32" name="Shape 27"/>
          <p:cNvSpPr/>
          <p:nvPr/>
        </p:nvSpPr>
        <p:spPr>
          <a:xfrm>
            <a:off x="4914900" y="2030611"/>
            <a:ext cx="3657600" cy="13716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33" name="Text 28"/>
          <p:cNvSpPr/>
          <p:nvPr/>
        </p:nvSpPr>
        <p:spPr>
          <a:xfrm>
            <a:off x="5029200" y="2144911"/>
            <a:ext cx="3429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65F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Control Guidelines</a:t>
            </a:r>
            <a:endParaRPr lang="en-US" sz="885" dirty="0"/>
          </a:p>
        </p:txBody>
      </p:sp>
      <p:sp>
        <p:nvSpPr>
          <p:cNvPr id="34" name="Text 29"/>
          <p:cNvSpPr/>
          <p:nvPr/>
        </p:nvSpPr>
        <p:spPr>
          <a:xfrm>
            <a:off x="5029200" y="240208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4785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93 control objectives and controls organized into 4 sections</a:t>
            </a:r>
            <a:endParaRPr lang="en-US" sz="727" dirty="0"/>
          </a:p>
        </p:txBody>
      </p:sp>
      <p:sp>
        <p:nvSpPr>
          <p:cNvPr id="35" name="Text 30"/>
          <p:cNvSpPr/>
          <p:nvPr/>
        </p:nvSpPr>
        <p:spPr>
          <a:xfrm>
            <a:off x="5029200" y="263068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4785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A.5: Organizational controls</a:t>
            </a:r>
            <a:endParaRPr lang="en-US" sz="727" dirty="0"/>
          </a:p>
        </p:txBody>
      </p:sp>
      <p:sp>
        <p:nvSpPr>
          <p:cNvPr id="36" name="Text 31"/>
          <p:cNvSpPr/>
          <p:nvPr/>
        </p:nvSpPr>
        <p:spPr>
          <a:xfrm>
            <a:off x="5029200" y="280213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4785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A.6: People controls</a:t>
            </a:r>
            <a:endParaRPr lang="en-US" sz="727" dirty="0"/>
          </a:p>
        </p:txBody>
      </p:sp>
      <p:sp>
        <p:nvSpPr>
          <p:cNvPr id="37" name="Text 32"/>
          <p:cNvSpPr/>
          <p:nvPr/>
        </p:nvSpPr>
        <p:spPr>
          <a:xfrm>
            <a:off x="5029200" y="297358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4785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A.7: Physical controls</a:t>
            </a:r>
            <a:endParaRPr lang="en-US" sz="727" dirty="0"/>
          </a:p>
        </p:txBody>
      </p:sp>
      <p:sp>
        <p:nvSpPr>
          <p:cNvPr id="38" name="Text 33"/>
          <p:cNvSpPr/>
          <p:nvPr/>
        </p:nvSpPr>
        <p:spPr>
          <a:xfrm>
            <a:off x="5029200" y="3145036"/>
            <a:ext cx="3429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4785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• A.8: Technological controls</a:t>
            </a:r>
            <a:endParaRPr lang="en-US" sz="727" dirty="0"/>
          </a:p>
        </p:txBody>
      </p:sp>
      <p:sp>
        <p:nvSpPr>
          <p:cNvPr id="39" name="Shape 34"/>
          <p:cNvSpPr/>
          <p:nvPr/>
        </p:nvSpPr>
        <p:spPr>
          <a:xfrm>
            <a:off x="4914900" y="3516511"/>
            <a:ext cx="3657600" cy="771525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0" name="Text 35"/>
          <p:cNvSpPr/>
          <p:nvPr/>
        </p:nvSpPr>
        <p:spPr>
          <a:xfrm>
            <a:off x="5029200" y="3630811"/>
            <a:ext cx="3429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65F4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Risk-Based Selection</a:t>
            </a:r>
            <a:endParaRPr lang="en-US" sz="885" dirty="0"/>
          </a:p>
        </p:txBody>
      </p:sp>
      <p:sp>
        <p:nvSpPr>
          <p:cNvPr id="41" name="Text 36"/>
          <p:cNvSpPr/>
          <p:nvPr/>
        </p:nvSpPr>
        <p:spPr>
          <a:xfrm>
            <a:off x="5029200" y="3887986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4785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Controls are selected based on risk assessment and treatment process, not all are mandatory</a:t>
            </a:r>
            <a:endParaRPr lang="en-US" sz="727" dirty="0"/>
          </a:p>
        </p:txBody>
      </p:sp>
      <p:sp>
        <p:nvSpPr>
          <p:cNvPr id="42" name="Shape 37"/>
          <p:cNvSpPr/>
          <p:nvPr/>
        </p:nvSpPr>
        <p:spPr>
          <a:xfrm>
            <a:off x="4914900" y="4459486"/>
            <a:ext cx="3657600" cy="3429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" name="Text 38"/>
          <p:cNvSpPr/>
          <p:nvPr/>
        </p:nvSpPr>
        <p:spPr>
          <a:xfrm>
            <a:off x="4914900" y="4459486"/>
            <a:ext cx="3657600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SELECTIVE Implementation</a:t>
            </a:r>
            <a:endParaRPr lang="en-US" sz="834" dirty="0"/>
          </a:p>
        </p:txBody>
      </p:sp>
      <p:sp>
        <p:nvSpPr>
          <p:cNvPr id="44" name="Shape 39"/>
          <p:cNvSpPr/>
          <p:nvPr/>
        </p:nvSpPr>
        <p:spPr>
          <a:xfrm>
            <a:off x="342900" y="5859661"/>
            <a:ext cx="8458200" cy="42862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446" y="6009680"/>
            <a:ext cx="128588" cy="12858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1515759" y="5986463"/>
            <a:ext cx="63267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Both parts work together to provide a complete framework for information security management</a:t>
            </a:r>
            <a:endParaRPr lang="en-US" sz="8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00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Requirements for Compliance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342900" y="742950"/>
            <a:ext cx="84582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Essential Elements for ISO 27001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342900" y="1171575"/>
            <a:ext cx="2705081" cy="2057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342900" y="1171575"/>
            <a:ext cx="2705081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1466841" y="1343025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147" y="1485900"/>
            <a:ext cx="128588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4350" y="1885950"/>
            <a:ext cx="23621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Documented Information</a:t>
            </a:r>
            <a:endParaRPr lang="en-US" sz="987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221706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1513" y="2200275"/>
            <a:ext cx="35076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Policies</a:t>
            </a:r>
            <a:endParaRPr lang="en-US" sz="727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450306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1513" y="2428875"/>
            <a:ext cx="25215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Plans</a:t>
            </a:r>
            <a:endParaRPr lang="en-US" sz="727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2678906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71513" y="2657475"/>
            <a:ext cx="37585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Records</a:t>
            </a:r>
            <a:endParaRPr lang="en-US" sz="727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2907506"/>
            <a:ext cx="100013" cy="10001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71513" y="2886075"/>
            <a:ext cx="5316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Procedures</a:t>
            </a:r>
            <a:endParaRPr lang="en-US" sz="727" dirty="0"/>
          </a:p>
        </p:txBody>
      </p:sp>
      <p:sp>
        <p:nvSpPr>
          <p:cNvPr id="18" name="Shape 10"/>
          <p:cNvSpPr/>
          <p:nvPr/>
        </p:nvSpPr>
        <p:spPr>
          <a:xfrm>
            <a:off x="3219431" y="1171575"/>
            <a:ext cx="2705109" cy="2057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1"/>
          <p:cNvSpPr/>
          <p:nvPr/>
        </p:nvSpPr>
        <p:spPr>
          <a:xfrm>
            <a:off x="3219431" y="1171575"/>
            <a:ext cx="2705109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2"/>
          <p:cNvSpPr/>
          <p:nvPr/>
        </p:nvSpPr>
        <p:spPr>
          <a:xfrm>
            <a:off x="4343372" y="1343025"/>
            <a:ext cx="457200" cy="4572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247" y="1485900"/>
            <a:ext cx="171450" cy="1714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390881" y="1885950"/>
            <a:ext cx="23622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05966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Required Activities</a:t>
            </a:r>
            <a:endParaRPr lang="en-US" sz="987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0881" y="2221706"/>
            <a:ext cx="100013" cy="100013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548044" y="2200275"/>
            <a:ext cx="77509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4785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Risk Assessment</a:t>
            </a:r>
            <a:endParaRPr lang="en-US" sz="727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0881" y="2450306"/>
            <a:ext cx="100013" cy="100013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3548044" y="2428875"/>
            <a:ext cx="7017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4785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Risk Treatment</a:t>
            </a:r>
            <a:endParaRPr lang="en-US" sz="727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0881" y="2678906"/>
            <a:ext cx="100013" cy="100013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3548044" y="2657475"/>
            <a:ext cx="64840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4785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Internal Audit</a:t>
            </a:r>
            <a:endParaRPr lang="en-US" sz="727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0881" y="2907506"/>
            <a:ext cx="100013" cy="100013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3548044" y="2886075"/>
            <a:ext cx="9827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04785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Management Review</a:t>
            </a:r>
            <a:endParaRPr lang="en-US" sz="727" dirty="0"/>
          </a:p>
        </p:txBody>
      </p:sp>
      <p:sp>
        <p:nvSpPr>
          <p:cNvPr id="31" name="Shape 18"/>
          <p:cNvSpPr/>
          <p:nvPr/>
        </p:nvSpPr>
        <p:spPr>
          <a:xfrm>
            <a:off x="6095991" y="1171575"/>
            <a:ext cx="2705081" cy="2057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19"/>
          <p:cNvSpPr/>
          <p:nvPr/>
        </p:nvSpPr>
        <p:spPr>
          <a:xfrm>
            <a:off x="6095991" y="1171575"/>
            <a:ext cx="2705081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Shape 20"/>
          <p:cNvSpPr/>
          <p:nvPr/>
        </p:nvSpPr>
        <p:spPr>
          <a:xfrm>
            <a:off x="7219931" y="1343025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2806" y="1485900"/>
            <a:ext cx="171450" cy="17145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267441" y="1885950"/>
            <a:ext cx="23621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7C3AE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PDCA Cycle</a:t>
            </a:r>
            <a:endParaRPr lang="en-US" sz="987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7441" y="2221706"/>
            <a:ext cx="75009" cy="100013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399600" y="2200275"/>
            <a:ext cx="2042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D28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</a:t>
            </a:r>
            <a:endParaRPr lang="en-US" sz="727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7441" y="2450306"/>
            <a:ext cx="100013" cy="100013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6424603" y="2428875"/>
            <a:ext cx="1335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D28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</a:t>
            </a:r>
            <a:endParaRPr lang="en-US" sz="727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7441" y="2678906"/>
            <a:ext cx="100013" cy="100013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6424603" y="2657475"/>
            <a:ext cx="2828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D28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Check</a:t>
            </a:r>
            <a:endParaRPr lang="en-US" sz="727" dirty="0"/>
          </a:p>
        </p:txBody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67441" y="2907506"/>
            <a:ext cx="75009" cy="100013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6399600" y="2886075"/>
            <a:ext cx="14803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6D28D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</a:t>
            </a:r>
            <a:endParaRPr lang="en-US" sz="727" dirty="0"/>
          </a:p>
        </p:txBody>
      </p:sp>
      <p:sp>
        <p:nvSpPr>
          <p:cNvPr id="44" name="Shape 26"/>
          <p:cNvSpPr/>
          <p:nvPr/>
        </p:nvSpPr>
        <p:spPr>
          <a:xfrm>
            <a:off x="342900" y="3371850"/>
            <a:ext cx="8458200" cy="1657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27"/>
          <p:cNvSpPr/>
          <p:nvPr/>
        </p:nvSpPr>
        <p:spPr>
          <a:xfrm>
            <a:off x="514350" y="3543300"/>
            <a:ext cx="811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Continual Improvement Process</a:t>
            </a:r>
            <a:endParaRPr lang="en-US" sz="1193" dirty="0"/>
          </a:p>
        </p:txBody>
      </p:sp>
      <p:sp>
        <p:nvSpPr>
          <p:cNvPr id="46" name="Shape 28"/>
          <p:cNvSpPr/>
          <p:nvPr/>
        </p:nvSpPr>
        <p:spPr>
          <a:xfrm>
            <a:off x="2464622" y="3943350"/>
            <a:ext cx="571500" cy="57150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86078" y="4143375"/>
            <a:ext cx="128588" cy="171450"/>
          </a:xfrm>
          <a:prstGeom prst="rect">
            <a:avLst/>
          </a:prstGeom>
        </p:spPr>
      </p:pic>
      <p:sp>
        <p:nvSpPr>
          <p:cNvPr id="48" name="Text 29"/>
          <p:cNvSpPr/>
          <p:nvPr/>
        </p:nvSpPr>
        <p:spPr>
          <a:xfrm>
            <a:off x="2464622" y="4572000"/>
            <a:ext cx="5819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</a:t>
            </a:r>
            <a:endParaRPr lang="en-US" sz="784" dirty="0"/>
          </a:p>
        </p:txBody>
      </p:sp>
      <p:sp>
        <p:nvSpPr>
          <p:cNvPr id="49" name="Text 30"/>
          <p:cNvSpPr/>
          <p:nvPr/>
        </p:nvSpPr>
        <p:spPr>
          <a:xfrm>
            <a:off x="2464622" y="4743450"/>
            <a:ext cx="58199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Establish ISMS</a:t>
            </a:r>
            <a:endParaRPr lang="en-US" sz="621" dirty="0"/>
          </a:p>
        </p:txBody>
      </p:sp>
      <p:pic>
        <p:nvPicPr>
          <p:cNvPr id="5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75214" y="4314825"/>
            <a:ext cx="150019" cy="171450"/>
          </a:xfrm>
          <a:prstGeom prst="rect">
            <a:avLst/>
          </a:prstGeom>
        </p:spPr>
      </p:pic>
      <p:sp>
        <p:nvSpPr>
          <p:cNvPr id="51" name="Shape 31"/>
          <p:cNvSpPr/>
          <p:nvPr/>
        </p:nvSpPr>
        <p:spPr>
          <a:xfrm>
            <a:off x="3653833" y="3943350"/>
            <a:ext cx="571500" cy="5715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53858" y="4143375"/>
            <a:ext cx="171450" cy="171450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3653833" y="4572000"/>
            <a:ext cx="6680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5966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</a:t>
            </a:r>
            <a:endParaRPr lang="en-US" sz="784" dirty="0"/>
          </a:p>
        </p:txBody>
      </p:sp>
      <p:sp>
        <p:nvSpPr>
          <p:cNvPr id="54" name="Text 33"/>
          <p:cNvSpPr/>
          <p:nvPr/>
        </p:nvSpPr>
        <p:spPr>
          <a:xfrm>
            <a:off x="3653833" y="4743450"/>
            <a:ext cx="66808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ISMS</a:t>
            </a:r>
            <a:endParaRPr lang="en-US" sz="621" dirty="0"/>
          </a:p>
        </p:txBody>
      </p:sp>
      <p:pic>
        <p:nvPicPr>
          <p:cNvPr id="5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50513" y="4314825"/>
            <a:ext cx="150019" cy="171450"/>
          </a:xfrm>
          <a:prstGeom prst="rect">
            <a:avLst/>
          </a:prstGeom>
        </p:spPr>
      </p:pic>
      <p:pic>
        <p:nvPicPr>
          <p:cNvPr id="5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29157" y="4143375"/>
            <a:ext cx="171450" cy="171450"/>
          </a:xfrm>
          <a:prstGeom prst="rect">
            <a:avLst/>
          </a:prstGeom>
        </p:spPr>
      </p:pic>
      <p:sp>
        <p:nvSpPr>
          <p:cNvPr id="57" name="Text 34"/>
          <p:cNvSpPr/>
          <p:nvPr/>
        </p:nvSpPr>
        <p:spPr>
          <a:xfrm>
            <a:off x="4929132" y="4572000"/>
            <a:ext cx="571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CHECK</a:t>
            </a:r>
            <a:endParaRPr lang="en-US" sz="784" dirty="0"/>
          </a:p>
        </p:txBody>
      </p:sp>
      <p:sp>
        <p:nvSpPr>
          <p:cNvPr id="58" name="Text 35"/>
          <p:cNvSpPr/>
          <p:nvPr/>
        </p:nvSpPr>
        <p:spPr>
          <a:xfrm>
            <a:off x="4929132" y="4743450"/>
            <a:ext cx="571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Monitor ISMS</a:t>
            </a:r>
            <a:endParaRPr lang="en-US" sz="621" dirty="0"/>
          </a:p>
        </p:txBody>
      </p:sp>
      <p:pic>
        <p:nvPicPr>
          <p:cNvPr id="5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29232" y="4314825"/>
            <a:ext cx="150019" cy="171450"/>
          </a:xfrm>
          <a:prstGeom prst="rect">
            <a:avLst/>
          </a:prstGeom>
        </p:spPr>
      </p:pic>
      <p:sp>
        <p:nvSpPr>
          <p:cNvPr id="60" name="Shape 36"/>
          <p:cNvSpPr/>
          <p:nvPr/>
        </p:nvSpPr>
        <p:spPr>
          <a:xfrm>
            <a:off x="6107850" y="3943350"/>
            <a:ext cx="571500" cy="5715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9307" y="4143375"/>
            <a:ext cx="128588" cy="171450"/>
          </a:xfrm>
          <a:prstGeom prst="rect">
            <a:avLst/>
          </a:prstGeom>
        </p:spPr>
      </p:pic>
      <p:sp>
        <p:nvSpPr>
          <p:cNvPr id="62" name="Text 37"/>
          <p:cNvSpPr/>
          <p:nvPr/>
        </p:nvSpPr>
        <p:spPr>
          <a:xfrm>
            <a:off x="6107850" y="4572000"/>
            <a:ext cx="571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7C3AE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</a:t>
            </a:r>
            <a:endParaRPr lang="en-US" sz="784" dirty="0"/>
          </a:p>
        </p:txBody>
      </p:sp>
      <p:sp>
        <p:nvSpPr>
          <p:cNvPr id="63" name="Text 38"/>
          <p:cNvSpPr/>
          <p:nvPr/>
        </p:nvSpPr>
        <p:spPr>
          <a:xfrm>
            <a:off x="6107850" y="4743450"/>
            <a:ext cx="571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Improve ISMS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57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8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&amp; Certification Process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342900" y="742950"/>
            <a:ext cx="84582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Your Journey to ISO 27001 Certification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342900" y="1171575"/>
            <a:ext cx="2705081" cy="148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342900" y="1171575"/>
            <a:ext cx="2705081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1466841" y="1343025"/>
            <a:ext cx="457200" cy="45720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8" name="Text 5"/>
          <p:cNvSpPr/>
          <p:nvPr/>
        </p:nvSpPr>
        <p:spPr>
          <a:xfrm>
            <a:off x="1646383" y="1457325"/>
            <a:ext cx="980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14350" y="1914525"/>
            <a:ext cx="23621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Define ISMS Scope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14350" y="2171700"/>
            <a:ext cx="2362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Determine boundaries and applicability of your information security management system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3219431" y="1171575"/>
            <a:ext cx="2705109" cy="148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219431" y="1171575"/>
            <a:ext cx="2705109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0"/>
          <p:cNvSpPr/>
          <p:nvPr/>
        </p:nvSpPr>
        <p:spPr>
          <a:xfrm>
            <a:off x="4343372" y="1343025"/>
            <a:ext cx="457200" cy="45720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4" name="Text 11"/>
          <p:cNvSpPr/>
          <p:nvPr/>
        </p:nvSpPr>
        <p:spPr>
          <a:xfrm>
            <a:off x="4522915" y="1457325"/>
            <a:ext cx="980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05966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3390881" y="1914525"/>
            <a:ext cx="23622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5966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Conduct Risk Assessment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3390881" y="2171700"/>
            <a:ext cx="23622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Identify, analyze, and evaluate information security risks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6095991" y="1171575"/>
            <a:ext cx="2705081" cy="148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5991" y="1171575"/>
            <a:ext cx="2705081" cy="285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Shape 16"/>
          <p:cNvSpPr/>
          <p:nvPr/>
        </p:nvSpPr>
        <p:spPr>
          <a:xfrm>
            <a:off x="7219931" y="1343025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20" name="Text 17"/>
          <p:cNvSpPr/>
          <p:nvPr/>
        </p:nvSpPr>
        <p:spPr>
          <a:xfrm>
            <a:off x="7399474" y="1457325"/>
            <a:ext cx="980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DC262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6267441" y="1914525"/>
            <a:ext cx="23621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C262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Controls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6267441" y="2171700"/>
            <a:ext cx="2362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 selected security controls and create Statement of Applicability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342900" y="2800350"/>
            <a:ext cx="2705081" cy="148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342900" y="2800350"/>
            <a:ext cx="2705081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hape 22"/>
          <p:cNvSpPr/>
          <p:nvPr/>
        </p:nvSpPr>
        <p:spPr>
          <a:xfrm>
            <a:off x="1466841" y="2971800"/>
            <a:ext cx="457200" cy="45720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6" name="Text 23"/>
          <p:cNvSpPr/>
          <p:nvPr/>
        </p:nvSpPr>
        <p:spPr>
          <a:xfrm>
            <a:off x="1646383" y="3086100"/>
            <a:ext cx="980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7C3AE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514350" y="3543300"/>
            <a:ext cx="23621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7C3AE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Internal Audit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514350" y="3800475"/>
            <a:ext cx="2362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Conduct internal audits to verify ISMS effectiveness</a:t>
            </a:r>
            <a:endParaRPr lang="en-US" sz="727" dirty="0"/>
          </a:p>
        </p:txBody>
      </p:sp>
      <p:sp>
        <p:nvSpPr>
          <p:cNvPr id="29" name="Shape 26"/>
          <p:cNvSpPr/>
          <p:nvPr/>
        </p:nvSpPr>
        <p:spPr>
          <a:xfrm>
            <a:off x="3219431" y="2800350"/>
            <a:ext cx="2705109" cy="148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3219431" y="2800350"/>
            <a:ext cx="2705109" cy="285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8"/>
          <p:cNvSpPr/>
          <p:nvPr/>
        </p:nvSpPr>
        <p:spPr>
          <a:xfrm>
            <a:off x="4343372" y="2971800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32" name="Text 29"/>
          <p:cNvSpPr/>
          <p:nvPr/>
        </p:nvSpPr>
        <p:spPr>
          <a:xfrm>
            <a:off x="4522915" y="3086100"/>
            <a:ext cx="980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D9770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1193" dirty="0"/>
          </a:p>
        </p:txBody>
      </p:sp>
      <p:sp>
        <p:nvSpPr>
          <p:cNvPr id="33" name="Text 30"/>
          <p:cNvSpPr/>
          <p:nvPr/>
        </p:nvSpPr>
        <p:spPr>
          <a:xfrm>
            <a:off x="3390881" y="3543300"/>
            <a:ext cx="23622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D9770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Management Review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3390881" y="3800475"/>
            <a:ext cx="23622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Senior management reviews ISMS performance and effectiveness</a:t>
            </a:r>
            <a:endParaRPr lang="en-US" sz="727" dirty="0"/>
          </a:p>
        </p:txBody>
      </p:sp>
      <p:sp>
        <p:nvSpPr>
          <p:cNvPr id="35" name="Shape 32"/>
          <p:cNvSpPr/>
          <p:nvPr/>
        </p:nvSpPr>
        <p:spPr>
          <a:xfrm>
            <a:off x="6095991" y="2800350"/>
            <a:ext cx="2705081" cy="148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6095991" y="2800350"/>
            <a:ext cx="2705081" cy="28575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7" name="Shape 34"/>
          <p:cNvSpPr/>
          <p:nvPr/>
        </p:nvSpPr>
        <p:spPr>
          <a:xfrm>
            <a:off x="7219931" y="2971800"/>
            <a:ext cx="457200" cy="45720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38" name="Text 35"/>
          <p:cNvSpPr/>
          <p:nvPr/>
        </p:nvSpPr>
        <p:spPr>
          <a:xfrm>
            <a:off x="7399474" y="3086100"/>
            <a:ext cx="980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4F46E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</a:t>
            </a:r>
            <a:endParaRPr lang="en-US" sz="1193" dirty="0"/>
          </a:p>
        </p:txBody>
      </p:sp>
      <p:sp>
        <p:nvSpPr>
          <p:cNvPr id="39" name="Text 36"/>
          <p:cNvSpPr/>
          <p:nvPr/>
        </p:nvSpPr>
        <p:spPr>
          <a:xfrm>
            <a:off x="6267441" y="3543300"/>
            <a:ext cx="23621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4F46E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Certification Audit</a:t>
            </a:r>
            <a:endParaRPr lang="en-US" sz="885" dirty="0"/>
          </a:p>
        </p:txBody>
      </p:sp>
      <p:sp>
        <p:nvSpPr>
          <p:cNvPr id="40" name="Text 37"/>
          <p:cNvSpPr/>
          <p:nvPr/>
        </p:nvSpPr>
        <p:spPr>
          <a:xfrm>
            <a:off x="6267441" y="3800475"/>
            <a:ext cx="2362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External certification body conducts formal audit for certification</a:t>
            </a:r>
            <a:endParaRPr lang="en-US" sz="727" dirty="0"/>
          </a:p>
        </p:txBody>
      </p:sp>
      <p:sp>
        <p:nvSpPr>
          <p:cNvPr id="41" name="Shape 38"/>
          <p:cNvSpPr/>
          <p:nvPr/>
        </p:nvSpPr>
        <p:spPr>
          <a:xfrm>
            <a:off x="342900" y="4429125"/>
            <a:ext cx="4143375" cy="42862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475" y="4579144"/>
            <a:ext cx="128588" cy="128588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1542213" y="4555927"/>
            <a:ext cx="193048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Typical Timeline: 6-12 months</a:t>
            </a:r>
            <a:endParaRPr lang="en-US" sz="885" dirty="0"/>
          </a:p>
        </p:txBody>
      </p:sp>
      <p:sp>
        <p:nvSpPr>
          <p:cNvPr id="44" name="Shape 40"/>
          <p:cNvSpPr/>
          <p:nvPr/>
        </p:nvSpPr>
        <p:spPr>
          <a:xfrm>
            <a:off x="4657725" y="4429125"/>
            <a:ext cx="4143375" cy="428625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834" y="4579144"/>
            <a:ext cx="128588" cy="128588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028572" y="4555927"/>
            <a:ext cx="15874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Certificate Valid: 3 years</a:t>
            </a:r>
            <a:endParaRPr lang="en-US" sz="88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600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342900"/>
            <a:ext cx="8458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Questions &amp; Discussion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342900" y="800100"/>
            <a:ext cx="8458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69" dirty="0">
                <a:solidFill>
                  <a:srgbClr val="DBEA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Let's explore ISO 27001 together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342900" y="1257300"/>
            <a:ext cx="4114800" cy="39433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88" y="1485900"/>
            <a:ext cx="428625" cy="428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028825"/>
            <a:ext cx="3657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Questions &amp; Answers</a:t>
            </a:r>
            <a:endParaRPr lang="en-US" sz="1499" dirty="0"/>
          </a:p>
        </p:txBody>
      </p:sp>
      <p:sp>
        <p:nvSpPr>
          <p:cNvPr id="8" name="Shape 4"/>
          <p:cNvSpPr/>
          <p:nvPr/>
        </p:nvSpPr>
        <p:spPr>
          <a:xfrm>
            <a:off x="571500" y="2457450"/>
            <a:ext cx="3657600" cy="400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685800" y="2571750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challenges do you face with information security?</a:t>
            </a:r>
            <a:endParaRPr lang="en-US" sz="784" dirty="0"/>
          </a:p>
        </p:txBody>
      </p:sp>
      <p:sp>
        <p:nvSpPr>
          <p:cNvPr id="10" name="Shape 6"/>
          <p:cNvSpPr/>
          <p:nvPr/>
        </p:nvSpPr>
        <p:spPr>
          <a:xfrm>
            <a:off x="571500" y="2971800"/>
            <a:ext cx="3657600" cy="400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3086100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can ISO 27001 benefit your organization?</a:t>
            </a:r>
            <a:endParaRPr lang="en-US" sz="784" dirty="0"/>
          </a:p>
        </p:txBody>
      </p:sp>
      <p:sp>
        <p:nvSpPr>
          <p:cNvPr id="12" name="Shape 8"/>
          <p:cNvSpPr/>
          <p:nvPr/>
        </p:nvSpPr>
        <p:spPr>
          <a:xfrm>
            <a:off x="571500" y="3486150"/>
            <a:ext cx="3657600" cy="400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85800" y="3600450"/>
            <a:ext cx="34290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What's your next step toward implementation?</a:t>
            </a:r>
            <a:endParaRPr lang="en-US" sz="784" dirty="0"/>
          </a:p>
        </p:txBody>
      </p:sp>
      <p:sp>
        <p:nvSpPr>
          <p:cNvPr id="14" name="Shape 10"/>
          <p:cNvSpPr/>
          <p:nvPr/>
        </p:nvSpPr>
        <p:spPr>
          <a:xfrm>
            <a:off x="4686300" y="1257300"/>
            <a:ext cx="4114800" cy="39433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598" y="1485900"/>
            <a:ext cx="482203" cy="4286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14900" y="2028825"/>
            <a:ext cx="3657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Further Resources</a:t>
            </a:r>
            <a:endParaRPr lang="en-US" sz="1499" dirty="0"/>
          </a:p>
        </p:txBody>
      </p:sp>
      <p:sp>
        <p:nvSpPr>
          <p:cNvPr id="17" name="Shape 12"/>
          <p:cNvSpPr/>
          <p:nvPr/>
        </p:nvSpPr>
        <p:spPr>
          <a:xfrm>
            <a:off x="4914900" y="2457450"/>
            <a:ext cx="3657600" cy="5429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43188"/>
            <a:ext cx="171450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14950" y="2571750"/>
            <a:ext cx="11266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ISO Official Website</a:t>
            </a:r>
            <a:endParaRPr lang="en-US" sz="784" dirty="0"/>
          </a:p>
        </p:txBody>
      </p:sp>
      <p:sp>
        <p:nvSpPr>
          <p:cNvPr id="20" name="Text 14"/>
          <p:cNvSpPr/>
          <p:nvPr/>
        </p:nvSpPr>
        <p:spPr>
          <a:xfrm>
            <a:off x="5314950" y="2743200"/>
            <a:ext cx="11266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BEA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iso.org/standard/27001</a:t>
            </a:r>
            <a:endParaRPr lang="en-US" sz="727" dirty="0"/>
          </a:p>
        </p:txBody>
      </p:sp>
      <p:sp>
        <p:nvSpPr>
          <p:cNvPr id="21" name="Shape 15"/>
          <p:cNvSpPr/>
          <p:nvPr/>
        </p:nvSpPr>
        <p:spPr>
          <a:xfrm>
            <a:off x="4914900" y="3114675"/>
            <a:ext cx="3657600" cy="5429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300413"/>
            <a:ext cx="214313" cy="1714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57813" y="3228975"/>
            <a:ext cx="10965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Advisera Academy</a:t>
            </a:r>
            <a:endParaRPr lang="en-US" sz="784" dirty="0"/>
          </a:p>
        </p:txBody>
      </p:sp>
      <p:sp>
        <p:nvSpPr>
          <p:cNvPr id="24" name="Text 17"/>
          <p:cNvSpPr/>
          <p:nvPr/>
        </p:nvSpPr>
        <p:spPr>
          <a:xfrm>
            <a:off x="5357813" y="3400425"/>
            <a:ext cx="10965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BEA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Training and Templates</a:t>
            </a:r>
            <a:endParaRPr lang="en-US" sz="727" dirty="0"/>
          </a:p>
        </p:txBody>
      </p:sp>
      <p:sp>
        <p:nvSpPr>
          <p:cNvPr id="25" name="Shape 18"/>
          <p:cNvSpPr/>
          <p:nvPr/>
        </p:nvSpPr>
        <p:spPr>
          <a:xfrm>
            <a:off x="4914900" y="3771900"/>
            <a:ext cx="3657600" cy="5429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957638"/>
            <a:ext cx="214313" cy="1714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57813" y="3886200"/>
            <a:ext cx="12295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Governance</a:t>
            </a:r>
            <a:endParaRPr lang="en-US" sz="784" dirty="0"/>
          </a:p>
        </p:txBody>
      </p:sp>
      <p:sp>
        <p:nvSpPr>
          <p:cNvPr id="28" name="Text 20"/>
          <p:cNvSpPr/>
          <p:nvPr/>
        </p:nvSpPr>
        <p:spPr>
          <a:xfrm>
            <a:off x="5357813" y="4057650"/>
            <a:ext cx="122956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BEA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Guidance</a:t>
            </a:r>
            <a:endParaRPr lang="en-US" sz="727" dirty="0"/>
          </a:p>
        </p:txBody>
      </p:sp>
      <p:sp>
        <p:nvSpPr>
          <p:cNvPr id="29" name="Shape 21"/>
          <p:cNvSpPr/>
          <p:nvPr/>
        </p:nvSpPr>
        <p:spPr>
          <a:xfrm>
            <a:off x="4914900" y="4429125"/>
            <a:ext cx="3657600" cy="5429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4614863"/>
            <a:ext cx="214313" cy="17145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357813" y="4543425"/>
            <a:ext cx="14937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Professional Communities</a:t>
            </a:r>
            <a:endParaRPr lang="en-US" sz="784" dirty="0"/>
          </a:p>
        </p:txBody>
      </p:sp>
      <p:sp>
        <p:nvSpPr>
          <p:cNvPr id="32" name="Text 23"/>
          <p:cNvSpPr/>
          <p:nvPr/>
        </p:nvSpPr>
        <p:spPr>
          <a:xfrm>
            <a:off x="5357813" y="4714875"/>
            <a:ext cx="149379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DBEA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ISACA, (ISC)², ISO Forums</a:t>
            </a:r>
            <a:endParaRPr lang="en-US" sz="727" dirty="0"/>
          </a:p>
        </p:txBody>
      </p:sp>
      <p:sp>
        <p:nvSpPr>
          <p:cNvPr id="33" name="Shape 24"/>
          <p:cNvSpPr/>
          <p:nvPr/>
        </p:nvSpPr>
        <p:spPr>
          <a:xfrm>
            <a:off x="2982460" y="5429250"/>
            <a:ext cx="3179052" cy="82867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3910" y="5629275"/>
            <a:ext cx="171450" cy="17145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411085" y="5597128"/>
            <a:ext cx="257897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Thank you for your attention!</a:t>
            </a:r>
            <a:endParaRPr lang="en-US" sz="1193" dirty="0"/>
          </a:p>
        </p:txBody>
      </p:sp>
      <p:sp>
        <p:nvSpPr>
          <p:cNvPr id="36" name="Text 26"/>
          <p:cNvSpPr/>
          <p:nvPr/>
        </p:nvSpPr>
        <p:spPr>
          <a:xfrm>
            <a:off x="3153910" y="5886450"/>
            <a:ext cx="283615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DBEA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Start your ISO 27001 journey today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2026-03-30T08:42:14Z</dcterms:created>
  <dcterms:modified xsi:type="dcterms:W3CDTF">2026-03-30T08:42:14Z</dcterms:modified>
</cp:coreProperties>
</file>